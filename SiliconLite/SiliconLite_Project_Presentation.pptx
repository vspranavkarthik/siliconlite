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Krona One"/>
      <p:regular r:id="rId201314"/>
    </p:embeddedFont>
    <p:embeddedFont>
      <p:font typeface="Lexend"/>
      <p:regular r:id="rId201315"/>
    </p:embeddedFont>
    <p:embeddedFont>
      <p:font typeface="Lexend Medium"/>
      <p:regular r:id="rId201316"/>
    </p:embeddedFont>
    <p:embeddedFont>
      <p:font typeface="Lexend SemiBold"/>
      <p:regular r:id="rId201317"/>
    </p:embeddedFont>
    <p:embeddedFont>
      <p:font typeface="Lexend Bold"/>
      <p:regular r:id="rId201318"/>
    </p:embeddedFont>
    <p:embeddedFont>
      <p:font typeface="Martian Mono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SiliconLite processor project: a clean, synchronous 5-stage RISC core implemented in Verilog RTL. State the educational scope: functional verification via directed test suites and gate-level generic synthesis using Yosys.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pipeline stages. Highlight the 4 pipeline register barriers isolating the datapath. Point out how each physical block (PC, IMEM, RegFile, ALU, DMEM) operates independently during each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explicit educational scope: this is not full RV32I, but contains every canonical instruction format necessary to stress data hazards, memory load-use delays, and control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simulation capture on the right. Note how load_use_stall asserts high when a load destination matches the next decode stage source register. Walk through how the branch flush discards speculative instructions without corrupting architectural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exact waveform cursor: 632,204 ps represents cycle 60 of the verification run. Note that the error monitor wire remains flat at zero across the entire execution window, validating architectural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telemetry shown in both captures: the exact memory strobes in EX/MEM matching the instruction schedule, and the branch telemetry registering both taken branches without corrupting the subsequent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register scorecard. Trace each architectural value back to its verifying operation: x3 tests forwarding, x4 tests load-use stall, x7 and x8 verify branch targets, and Memory word 0 confirms that the SW instruction committed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engineering rigor: generic logic counts are not physical area, power, or Fmax. No ASIC fabrication or FPGA utilization numbers are fabricated. The 33 flip-flops correspond to the pipeline stage registers and architectural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architectural accomplishments: a verified 5-stage pipeline with solid hazard handling and clean synthesis. Close by inviting evaluator questions on the hazard unit, verification coverage, or synthesis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251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RISC ARCHITECTURE · VERILOG HDL · FUNCTIONAL 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64156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SiliconLite: Design &amp; Verification of a 5-Stage Pipelined RISC Processor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118916"/>
            <a:ext cx="10972526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1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Verilog RTL implementation, directed testbench verification, and generic cell synthesis.</a:t>
            </a:r>
            <a:endParaRPr lang="en-US" sz="2000" dirty="0"/>
          </a:p>
          <a:p>
            <a:pPr algn="l" indent="0" marL="0">
              <a:lnSpc>
                <a:spcPct val="112000"/>
              </a:lnSpc>
              <a:spcAft>
                <a:spcPts val="2100"/>
              </a:spcAft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751064"/>
            <a:ext cx="11582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V. Sathya Pranav Karthik - ECE (SASTRA University)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4357489"/>
            <a:ext cx="10972526" cy="109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2100"/>
              </a:spcAft>
              <a:buNone/>
            </a:pP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802709"/>
            <a:ext cx="10972526" cy="152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585" y="5859859"/>
            <a:ext cx="10972526" cy="38100"/>
          </a:xfrm>
          <a:prstGeom prst="roundRect">
            <a:avLst>
              <a:gd name="adj" fmla="val 49999"/>
            </a:avLst>
          </a:prstGeom>
          <a:solidFill>
            <a:srgbClr val="3A3D8C"/>
          </a:solidFill>
          <a:ln/>
        </p:spPr>
      </p:sp>
      <p:sp>
        <p:nvSpPr>
          <p:cNvPr id="9" name="Text 6"/>
          <p:cNvSpPr/>
          <p:nvPr/>
        </p:nvSpPr>
        <p:spPr>
          <a:xfrm>
            <a:off x="609585" y="6321504"/>
            <a:ext cx="21944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IF · FETCH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804050" y="6321504"/>
            <a:ext cx="21944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ID · DECODE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98516" y="6321504"/>
            <a:ext cx="2194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9347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EX · EXECUTE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93080" y="6321504"/>
            <a:ext cx="21944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MEM · ACCESS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87546" y="6321504"/>
            <a:ext cx="21945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WB · WRITEBACK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0200"/>
            <a:ext cx="11683708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6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PIPELINE ARCHITECTURE &amp; OVERLAP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7987" y="606591"/>
            <a:ext cx="11175720" cy="710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spc="-12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A compact pipelined RISC processor lets five instructions overlap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7987" y="1550598"/>
            <a:ext cx="11683708" cy="334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Objective: implement a compact five-stage pipelined RISC processor in Verilog.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7987" y="2074366"/>
            <a:ext cx="2113307" cy="3270349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2201366"/>
            <a:ext cx="92608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6E9FF"/>
                </a:solidFill>
                <a:latin typeface="Lexend SemiBold" pitchFamily="34" charset="0"/>
                <a:ea typeface="Lexend SemiBold" pitchFamily="34" charset="-122"/>
                <a:cs typeface="Lexend SemiBold" pitchFamily="34" charset="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4984" y="2559645"/>
            <a:ext cx="1986310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6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STAGE 01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4984" y="2839186"/>
            <a:ext cx="1859313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IF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4984" y="3348390"/>
            <a:ext cx="1859313" cy="1252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Program Counter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+ Instruction Memory fetch the 32-bit instruction word.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34984" y="4786313"/>
            <a:ext cx="1859214" cy="31651"/>
          </a:xfrm>
          <a:prstGeom prst="roundRect">
            <a:avLst>
              <a:gd name="adj" fmla="val 49998"/>
            </a:avLst>
          </a:prstGeom>
          <a:solidFill>
            <a:srgbClr val="3A3D8C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" y="5023833"/>
            <a:ext cx="1986310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IF/ID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3591" y="2074366"/>
            <a:ext cx="2113307" cy="3270349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13" name="Text 11"/>
          <p:cNvSpPr/>
          <p:nvPr/>
        </p:nvSpPr>
        <p:spPr>
          <a:xfrm>
            <a:off x="2900588" y="2201366"/>
            <a:ext cx="927672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6E9FF"/>
                </a:solidFill>
                <a:latin typeface="Lexend SemiBold" pitchFamily="34" charset="0"/>
                <a:ea typeface="Lexend SemiBold" pitchFamily="34" charset="-122"/>
                <a:cs typeface="Lexend SemiBold" pitchFamily="34" charset="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900588" y="2559645"/>
            <a:ext cx="1986310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6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STAGE 02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00588" y="2839186"/>
            <a:ext cx="1859313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ID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900588" y="3348390"/>
            <a:ext cx="1859313" cy="100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Register File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reads rs1, rs2; Immediate Generator and control decoding.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2900588" y="4535785"/>
            <a:ext cx="1859214" cy="31651"/>
          </a:xfrm>
          <a:prstGeom prst="roundRect">
            <a:avLst>
              <a:gd name="adj" fmla="val 49998"/>
            </a:avLst>
          </a:prstGeom>
          <a:solidFill>
            <a:srgbClr val="3A3D8C"/>
          </a:solidFill>
          <a:ln/>
        </p:spPr>
      </p:sp>
      <p:sp>
        <p:nvSpPr>
          <p:cNvPr id="18" name="Text 16"/>
          <p:cNvSpPr/>
          <p:nvPr/>
        </p:nvSpPr>
        <p:spPr>
          <a:xfrm>
            <a:off x="2900588" y="4773306"/>
            <a:ext cx="1986310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ID/EX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39194" y="2074366"/>
            <a:ext cx="2113307" cy="3270349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191" y="2201366"/>
            <a:ext cx="93372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6E9FF"/>
                </a:solidFill>
                <a:latin typeface="Lexend SemiBold" pitchFamily="34" charset="0"/>
                <a:ea typeface="Lexend SemiBold" pitchFamily="34" charset="-122"/>
                <a:cs typeface="Lexend SemiBold" pitchFamily="34" charset="0"/>
              </a:rPr>
              <a:t>03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166191" y="2559645"/>
            <a:ext cx="1986310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6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STAGE 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66191" y="2839186"/>
            <a:ext cx="1859313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EX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166191" y="3348390"/>
            <a:ext cx="1859313" cy="1252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ALU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execution, branch-target calculation and forwarding multiplexers.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166191" y="4786313"/>
            <a:ext cx="1859214" cy="31651"/>
          </a:xfrm>
          <a:prstGeom prst="roundRect">
            <a:avLst>
              <a:gd name="adj" fmla="val 49998"/>
            </a:avLst>
          </a:prstGeom>
          <a:solidFill>
            <a:srgbClr val="2878FF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191" y="5023833"/>
            <a:ext cx="1986310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EX/MEM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04798" y="2074366"/>
            <a:ext cx="2113307" cy="3270349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27" name="Text 25"/>
          <p:cNvSpPr/>
          <p:nvPr/>
        </p:nvSpPr>
        <p:spPr>
          <a:xfrm>
            <a:off x="7431795" y="2201366"/>
            <a:ext cx="95416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6E9FF"/>
                </a:solidFill>
                <a:latin typeface="Lexend SemiBold" pitchFamily="34" charset="0"/>
                <a:ea typeface="Lexend SemiBold" pitchFamily="34" charset="-122"/>
                <a:cs typeface="Lexend SemiBold" pitchFamily="34" charset="0"/>
              </a:rPr>
              <a:t>04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431795" y="2559645"/>
            <a:ext cx="1986310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6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STAGE 04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31795" y="2839186"/>
            <a:ext cx="1859313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MEM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431795" y="3348390"/>
            <a:ext cx="1859313" cy="751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Data Memory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loads and stores; branch resolution.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431795" y="4285258"/>
            <a:ext cx="1859214" cy="31651"/>
          </a:xfrm>
          <a:prstGeom prst="roundRect">
            <a:avLst>
              <a:gd name="adj" fmla="val 49998"/>
            </a:avLst>
          </a:prstGeom>
          <a:solidFill>
            <a:srgbClr val="3A3D8C"/>
          </a:solidFill>
          <a:ln/>
        </p:spPr>
      </p:sp>
      <p:sp>
        <p:nvSpPr>
          <p:cNvPr id="32" name="Text 30"/>
          <p:cNvSpPr/>
          <p:nvPr/>
        </p:nvSpPr>
        <p:spPr>
          <a:xfrm>
            <a:off x="7431795" y="4522779"/>
            <a:ext cx="1986310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MEM/WB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70401" y="2074366"/>
            <a:ext cx="2113307" cy="3270349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34" name="Text 32"/>
          <p:cNvSpPr/>
          <p:nvPr/>
        </p:nvSpPr>
        <p:spPr>
          <a:xfrm>
            <a:off x="9697398" y="2201366"/>
            <a:ext cx="93799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6E9FF"/>
                </a:solidFill>
                <a:latin typeface="Lexend SemiBold" pitchFamily="34" charset="0"/>
                <a:ea typeface="Lexend SemiBold" pitchFamily="34" charset="-122"/>
                <a:cs typeface="Lexend SemiBold" pitchFamily="34" charset="0"/>
              </a:rPr>
              <a:t>05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697398" y="2559645"/>
            <a:ext cx="1986310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6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STAGE 05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697398" y="2839186"/>
            <a:ext cx="1859313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WB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697398" y="3348390"/>
            <a:ext cx="1859313" cy="100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Write ALU result or loaded memory data to destination register (rd).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9697398" y="4535785"/>
            <a:ext cx="1859214" cy="31651"/>
          </a:xfrm>
          <a:prstGeom prst="roundRect">
            <a:avLst>
              <a:gd name="adj" fmla="val 49998"/>
            </a:avLst>
          </a:prstGeom>
          <a:solidFill>
            <a:srgbClr val="3A3D8C"/>
          </a:solidFill>
          <a:ln/>
        </p:spPr>
      </p:sp>
      <p:sp>
        <p:nvSpPr>
          <p:cNvPr id="39" name="Text 37"/>
          <p:cNvSpPr/>
          <p:nvPr/>
        </p:nvSpPr>
        <p:spPr>
          <a:xfrm>
            <a:off x="9697398" y="4773306"/>
            <a:ext cx="1986310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Commit: RF[rd]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7987" y="5550892"/>
            <a:ext cx="11175720" cy="1311970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41" name="Text 39"/>
          <p:cNvSpPr/>
          <p:nvPr/>
        </p:nvSpPr>
        <p:spPr>
          <a:xfrm>
            <a:off x="711182" y="5677892"/>
            <a:ext cx="10972526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6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CONCURRENCY &amp; THROUGHPUT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11182" y="5997829"/>
            <a:ext cx="10769331" cy="751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Synchronous pipeline registers isolate datapath stages, enabling single-cycle throughput for independent instructions. Different instructions occupy different stages concurrently. Ideal CPI = 1.0 under hazard-free instruction streams; pipeline interlocks maintain correctness across hazards without software intervention.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271145"/>
            <a:ext cx="1183610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ISA SPECIFICATION &amp; DATAPATH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55591" y="590775"/>
            <a:ext cx="11480513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The RTL implements an educational instruction subset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702872"/>
            <a:ext cx="1183610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SiliconLite targets a focused, synthesizable 32-bit RISC subset for pipelined hazard handling and control flow.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5591" y="2257782"/>
            <a:ext cx="551166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Instruction subset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55591" y="2857798"/>
            <a:ext cx="5511662" cy="300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R-type — ADD, SUB, SLT: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register-register arithmetic and signed comparison; 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AND, OR, XOR: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bitwise logic on rs1 and rs2. Path: IF → ID → EX → WB.</a:t>
            </a:r>
            <a:endParaRPr lang="en-US" sz="1600" dirty="0"/>
          </a:p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I-type — ADDI: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arithmetic with 12-bit sign-extended immediate. Path: IF → ID → EX → WB.</a:t>
            </a:r>
            <a:endParaRPr lang="en-US" sz="1600" dirty="0"/>
          </a:p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Memory — LW, SW: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synchronous 32-bit word load and store. Path: IF → ID → EX → MEM → WB.</a:t>
            </a:r>
            <a:endParaRPr lang="en-US" sz="16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Control — BEQ, BNE:</a:t>
            </a:r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conditional PC-relative branch evaluation. Path: IF → ID → EX (Branch target).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5591" y="6046053"/>
            <a:ext cx="5511662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SiliconLite is a pedagogical subset engineered for RTL verification, not a fully compliant RV32I specification.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4442" y="2257782"/>
            <a:ext cx="551166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Core datapath blocks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24442" y="2857798"/>
            <a:ext cx="5511662" cy="2645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PC → Instruction ROM → Decoder &amp; Control → Register File → ALU → Data RAM</a:t>
            </a:r>
            <a:endParaRPr lang="en-US" sz="16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Instruction fetch &amp; decode:</a:t>
            </a:r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PC register, Instruction ROM, 32×32-bit Dual-Port Register File, Immediate Sign Extender. </a:t>
            </a:r>
            <a:pPr algn="l" indent="0" marL="0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Execute &amp; memory:</a:t>
            </a:r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32-bit Arithmetic Logic Unit, Branch Target Adder, Zero/Comparison Detector, Data RAM. </a:t>
            </a:r>
            <a:pPr algn="l" indent="0" marL="0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Control &amp; interlocks:</a:t>
            </a:r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Forwarding multiplexers (EX/MEM, MEM/WB), Load-Use Hazard Unit, Branch Flush Controller.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98145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HAZARD DETECTION &amp; RESOLUTION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17775"/>
            <a:ext cx="11074123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Forwarding, stalls and flushes keep the pipeline correct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58786" y="1822252"/>
            <a:ext cx="5308467" cy="1285081"/>
          </a:xfrm>
          <a:prstGeom prst="roundRect">
            <a:avLst>
              <a:gd name="adj" fmla="val 1185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5631" y="1985447"/>
            <a:ext cx="51116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DATA FORWARDING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5631" y="2352715"/>
            <a:ext cx="491477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EX/MEM and MEM/WB forwarding supply results to dependent instructions.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58786" y="3412133"/>
            <a:ext cx="5308467" cy="1285081"/>
          </a:xfrm>
          <a:prstGeom prst="roundRect">
            <a:avLst>
              <a:gd name="adj" fmla="val 11859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sx="100000" sy="100000" kx="0" ky="0" algn="bl" rotWithShape="0" blurRad="201930" dist="127" dir="16200000">
              <a:srgbClr val="ff9347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5631" y="3575328"/>
            <a:ext cx="51116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9347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LOAD-USE HAZARD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5631" y="3942596"/>
            <a:ext cx="491477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One-cycle stall: bubble inserted into ID/EX; PC and IF/ID held.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8786" y="5002014"/>
            <a:ext cx="5308467" cy="1285081"/>
          </a:xfrm>
          <a:prstGeom prst="roundRect">
            <a:avLst>
              <a:gd name="adj" fmla="val 1185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5631" y="5165209"/>
            <a:ext cx="51116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CONTROL HAZARD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5631" y="5532477"/>
            <a:ext cx="491477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Taken branch: PC redirected; younger instructions flushed.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24442" y="1822252"/>
            <a:ext cx="5308467" cy="2836863"/>
          </a:xfrm>
          <a:prstGeom prst="roundRect">
            <a:avLst>
              <a:gd name="adj" fmla="val 5372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2" y="1822252"/>
            <a:ext cx="5308467" cy="283686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24442" y="4845804"/>
            <a:ext cx="5308467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ModelSim waveform showing decode, load_use_stall, wb_value, alu_result, branch_taken and branch_target signals.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71186"/>
            <a:ext cx="11632909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73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SIMULATION EVIDENCE · RUN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63306"/>
            <a:ext cx="11074123" cy="7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spc="-13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Waveform evidence: clock, reset and pipeline progression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58786" y="1855589"/>
            <a:ext cx="5384665" cy="4748312"/>
          </a:xfrm>
          <a:prstGeom prst="roundRect">
            <a:avLst>
              <a:gd name="adj" fmla="val 320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0232" y="2042625"/>
            <a:ext cx="5213220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73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SIGNAL OVERVIEW &amp; ERROR TRACE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32" y="2367756"/>
            <a:ext cx="5041774" cy="1562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0232" y="4101763"/>
            <a:ext cx="5041774" cy="260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2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tb_siliconlite_cpu/clk toggles; reset is asserted briefly at the start. Stalls, branches, rtype_seen, load_seen, store_seen and branch_seen counters step up; errors remains 0. Cursor at 632204 ps, cycles = 60 at that cursor.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6248244" y="1855589"/>
            <a:ext cx="5384665" cy="4748312"/>
          </a:xfrm>
          <a:prstGeom prst="roundRect">
            <a:avLst>
              <a:gd name="adj" fmla="val 3209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19689" y="2042625"/>
            <a:ext cx="5213220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73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DUT PIPELINE ADVANCEMENT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689" y="2367756"/>
            <a:ext cx="5041774" cy="2197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19689" y="4736763"/>
            <a:ext cx="5041774" cy="186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2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DUT internal signals (pc, ifid_instr, idex_* fields and control flags) change cycle by cycle as instructions advance through the pipeline.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509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Waveform evidence: execute, memory, write-back and branch control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728986"/>
            <a:ext cx="5333867" cy="285571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1728986"/>
            <a:ext cx="5333867" cy="28374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585" y="4898072"/>
            <a:ext cx="533386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Signals: exmem_regwrite, exmem_memread/memwrite, memwb_*, wb_value, alu_result, load_use_stall, branch_taken and branch_target.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248244" y="4898072"/>
            <a:ext cx="533386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Stalls, branches and branch_seen counters reaching 2; 1 stall recorded; errors 0.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632909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50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FUNCTIONAL VERIFICATION SCORECARD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58786" y="567187"/>
            <a:ext cx="11074123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Directed verification passed with 12 of 12 checks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58786" y="950710"/>
            <a:ext cx="116329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Self-checking testbench confirms exact register file writeback and memory state after 65 active simulation cycles.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58786" y="1264841"/>
            <a:ext cx="4246754" cy="1403945"/>
          </a:xfrm>
          <a:prstGeom prst="roundRect">
            <a:avLst>
              <a:gd name="adj" fmla="val 10855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sx="100000" sy="100000" kx="0" ky="0" algn="bl" rotWithShape="0" blurRad="201930" dist="127" dir="16200000">
              <a:srgbClr val="ff9347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5631" y="1461691"/>
            <a:ext cx="4049909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50" kern="100" dirty="0">
                <a:solidFill>
                  <a:srgbClr val="FF9347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VERIFICATION RESULT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55631" y="1660118"/>
            <a:ext cx="3853064" cy="331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spc="-24" kern="100" dirty="0">
                <a:solidFill>
                  <a:srgbClr val="FF9347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12 / 12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5631" y="2100783"/>
            <a:ext cx="40499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100% Directed Checks Passed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5631" y="2330864"/>
            <a:ext cx="4049909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9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Compilation: 0 Errors · 0 Warnings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8786" y="2973586"/>
            <a:ext cx="4246754" cy="1793677"/>
          </a:xfrm>
          <a:prstGeom prst="roundRect">
            <a:avLst>
              <a:gd name="adj" fmla="val 849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0232" y="3145036"/>
            <a:ext cx="4075308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50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EXECUTION METRICS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0232" y="3428231"/>
            <a:ext cx="390386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Total Active Cycles: </a:t>
            </a:r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65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0232" y="3741365"/>
            <a:ext cx="390386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Load-Use Stalls: </a:t>
            </a:r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1 cycle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0232" y="4054500"/>
            <a:ext cx="390386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Branches Evaluated: </a:t>
            </a:r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2 taken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0232" y="4367634"/>
            <a:ext cx="390386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Simulation Status: </a:t>
            </a:r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PASS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62629" y="1264841"/>
          <a:ext cx="6370280" cy="914400"/>
        </p:xfrm>
        <a:graphic>
          <a:graphicData uri="http://schemas.openxmlformats.org/drawingml/2006/table">
            <a:tbl>
              <a:tblPr/>
              <a:tblGrid>
                <a:gridCol w="1911005"/>
                <a:gridCol w="1401430"/>
                <a:gridCol w="3057845"/>
              </a:tblGrid>
              <a:tr h="5901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Register / Memory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Observed Value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Verification Test Case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1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x1</a:t>
                      </a:r>
                      <a:endParaRPr lang="en-US" sz="15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5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ADDI baseline initialization check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1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x2</a:t>
                      </a:r>
                      <a:endParaRPr lang="en-US" sz="15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7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Immediate sign extension &amp; load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1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x3</a:t>
                      </a:r>
                      <a:endParaRPr lang="en-US" sz="15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12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ADD operation with data forwarding (x1 + x2)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1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x4</a:t>
                      </a:r>
                      <a:endParaRPr lang="en-US" sz="15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12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SW to RAM followed by LW load-use stall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1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x5</a:t>
                      </a:r>
                      <a:endParaRPr lang="en-US" sz="15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13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Post-stall dependent ALU arithmetic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1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x7</a:t>
                      </a:r>
                      <a:endParaRPr lang="en-US" sz="15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42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BEQ taken branch target execution block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1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x8</a:t>
                      </a:r>
                      <a:endParaRPr lang="en-US" sz="15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8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BNE taken branch target validation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Memory word 0</a:t>
                      </a:r>
                      <a:endParaRPr lang="en-US" sz="15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12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Synchronous RAM write integrity check</a:t>
                      </a:r>
                      <a:endParaRPr lang="en-US" sz="155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45550" marR="145550" marT="77627" marB="77627" anchor="ctr">
                    <a:lnL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262629" y="6715639"/>
            <a:ext cx="6370280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9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Extracted directly from the recorded simulation transcript. All assertions evaluated with zero delta mismatches.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98145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SYNTHESIS RESULTS · YOSYS 0.70+221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14997"/>
            <a:ext cx="11074123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spc="-13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Yosys generic synthesis completed with 112 cells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58786" y="1384201"/>
            <a:ext cx="5308467" cy="5260479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1604546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GENERIC CELL BREAKDOWN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1981" y="1971814"/>
            <a:ext cx="510527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AND cells dominate the 112-cell netlist.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981" y="2449612"/>
          <a:ext cx="4902077" cy="914400"/>
        </p:xfrm>
        <a:graphic>
          <a:graphicData uri="http://schemas.openxmlformats.org/drawingml/2006/table">
            <a:tbl>
              <a:tblPr/>
              <a:tblGrid>
                <a:gridCol w="3431395"/>
                <a:gridCol w="1470683"/>
              </a:tblGrid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Cell type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Count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AND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49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$_SDFF_PP0_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33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XOR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29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6551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NOT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1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1981" y="5988209"/>
            <a:ext cx="4902077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33 synchronous flip-flops hold registered pipeline stages.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4442" y="1384201"/>
            <a:ext cx="5308467" cy="5260479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10" name="Text 7"/>
          <p:cNvSpPr/>
          <p:nvPr/>
        </p:nvSpPr>
        <p:spPr>
          <a:xfrm>
            <a:off x="6527637" y="1604546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GENERIC MAPPING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27637" y="1970861"/>
            <a:ext cx="4902077" cy="137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Generic gate-level mapping provides an architectural structural baseline without standard-cell library bias. Clean RTL was synthesized using the Yosys generic mapping flow, without technology constraints.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27637" y="3529390"/>
            <a:ext cx="490207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METHODOLOGICAL INTEGRITY · NO EXTRAPOLATED NUMBERS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27637" y="4093746"/>
            <a:ext cx="4902077" cy="137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Generic logic counts are not physical area, power, timing or maximum frequency. No physical silicon area (µm²), dynamic power, critical path slack, maximum operating frequency (Fmax), or ASIC or FPGA figures are claimed.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24364"/>
            <a:ext cx="11074123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Conclusion and 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204516"/>
            <a:ext cx="5308467" cy="4826794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4" name="Text 2"/>
          <p:cNvSpPr/>
          <p:nvPr/>
        </p:nvSpPr>
        <p:spPr>
          <a:xfrm>
            <a:off x="787380" y="1448356"/>
            <a:ext cx="485127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Delivered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2048371"/>
            <a:ext cx="4851279" cy="2956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Five-stage pipeline, educational instruction subset, forwarding, load-use stalling, and branch flushing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Directed functional verification passed; generic synthesis completed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324442" y="1204516"/>
            <a:ext cx="5308467" cy="4826794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7" name="Text 5"/>
          <p:cNvSpPr/>
          <p:nvPr/>
        </p:nvSpPr>
        <p:spPr>
          <a:xfrm>
            <a:off x="6553036" y="1448356"/>
            <a:ext cx="485127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Future work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53036" y="2048371"/>
            <a:ext cx="4851279" cy="236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Broader instruction tests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Reference-model verification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Functional coverage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FPGA or standard-cell target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Timing analysis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53036" y="4599702"/>
            <a:ext cx="4851279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Repository: [GitHub URL to be added]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0" y="6321504"/>
            <a:ext cx="1168370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THANK YOU / QUESTIONS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2026-10-27T11:26:04Z</dcterms:created>
  <dcterms:modified xsi:type="dcterms:W3CDTF">2026-10-27T11:26:04Z</dcterms:modified>
</cp:coreProperties>
</file>